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price (USD)</c:v>
                </c:pt>
              </c:strCache>
            </c:strRef>
          </c:tx>
          <c:spPr>
            <a:solidFill>
              <a:srgbClr val="2E9E93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2F6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Hevy Pro</c:v>
                  </c:pt>
                  <c:pt idx="1">
                    <c:v>Strong</c:v>
                  </c:pt>
                  <c:pt idx="2">
                    <c:v>Boostcamp Pro</c:v>
                  </c:pt>
                  <c:pt idx="3">
                    <c:v>JEFIT Elite</c:v>
                  </c:pt>
                  <c:pt idx="4">
                    <c:v>Alpha Prog.</c:v>
                  </c:pt>
                  <c:pt idx="5">
                    <c:v>Fitbod</c:v>
                  </c:pt>
                  <c:pt idx="6">
                    <c:v>RP Hypertrophy</c:v>
                  </c:pt>
                  <c:pt idx="7">
                    <c:v>Juggernaut AI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23.99</c:v>
                </c:pt>
                <c:pt idx="1">
                  <c:v>29.99</c:v>
                </c:pt>
                <c:pt idx="2">
                  <c:v>59.99</c:v>
                </c:pt>
                <c:pt idx="3">
                  <c:v>69.99</c:v>
                </c:pt>
                <c:pt idx="4">
                  <c:v>79.99</c:v>
                </c:pt>
                <c:pt idx="5">
                  <c:v>95.99</c:v>
                </c:pt>
                <c:pt idx="6">
                  <c:v>299.99</c:v>
                </c:pt>
                <c:pt idx="7">
                  <c:v>349.99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2F6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1C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"/>
        </c:scaling>
        <c:delete val="0"/>
        <c:axPos val="b"/>
        <c:majorGridlines>
          <c:spPr>
            <a:ln w="6350" cap="flat">
              <a:solidFill>
                <a:srgbClr val="24304F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C8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3291840"/>
            <a:ext cx="5120640" cy="3566160"/>
          </a:xfrm>
          <a:prstGeom prst="triangle">
            <a:avLst/>
          </a:prstGeom>
          <a:solidFill>
            <a:srgbClr val="141E3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297680"/>
            <a:ext cx="3291840" cy="2560320"/>
          </a:xfrm>
          <a:prstGeom prst="triangle">
            <a:avLst/>
          </a:prstGeom>
          <a:solidFill>
            <a:srgbClr val="1A2745"/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2743200"/>
            <a:ext cx="457200" cy="457200"/>
          </a:xfrm>
          <a:prstGeom prst="ellipse">
            <a:avLst/>
          </a:prstGeom>
          <a:solidFill>
            <a:srgbClr val="17E5D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FETTLE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private, honest,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offline-complete strength system.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deep-dive and head-to-head competitive analysis against Strong, Hevy, Fitbod, JEFIT, Alpha Progression, Juggernaut AI, RP Hypertrophy and Boostcamp — grounded in the shipped codebase and July 2026 review research.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21, 2026  ·  Internal positioning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moats no competitor can copy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1427561"/>
            <a:ext cx="235549" cy="235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298448"/>
            <a:ext cx="1047262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privacy  —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data physically never leaves the phone — on-device SQLite, zero personal REST calls, E2E-encrypted backup (AES-256-GCM). Rivals require accounts + cloud; JEFIT was breached (9M accounts), Gymverse discloses health data as tracking data.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30428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7" y="2396825"/>
            <a:ext cx="235549" cy="2355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267712"/>
            <a:ext cx="1047262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deterministic programming  —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Training Engine that shows its work ("Why this plan" rule traces) — in a market where reviewers call out Juggernaut, RP and JEFIT for rules dressed up as "AI."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27355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3366089"/>
            <a:ext cx="235549" cy="23554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3236976"/>
            <a:ext cx="1047262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built into the logging loop  —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strength percentiles + tier ladder — lognormal, DOTS-calibrated, age/training-age adjusted, free. Rivals offer none in-app; web calculators need cloud and manual entry.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424281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7" y="4335353"/>
            <a:ext cx="235549" cy="23554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0432" y="4206240"/>
            <a:ext cx="1047262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tier that embarrasses the category  —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routines and history, supersets/dropsets/circuits, plan generation, rankings, calculators, importers, export — no ads. Strong caps at 3 routines; Hevy at 4 with ads; Fitbod has no free tier at all.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521208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5304617"/>
            <a:ext cx="235549" cy="23554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70432" y="5175504"/>
            <a:ext cx="1047262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LifeOS: a category with no incumbent  —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product pairing a serious strength tracker with workout-gated screen time. Existing gates stop at step counts and camera push-ups.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548640" y="62636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pro-grade programming and rankings with zero cloud dependency — plus the only screen-time gate that demands a real workout.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MARKET, JULY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corner of the market has a documented complaint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64328" cy="2084832"/>
          </a:xfrm>
          <a:prstGeom prst="roundRect">
            <a:avLst>
              <a:gd name="adj" fmla="val 4386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777" y="1692737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72768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loggers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1874520"/>
            <a:ext cx="440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· Hevy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490712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"Feels stagnant… hasn’t evolved in years." Strong’s watch app "crashes multiple times every workout." Hevy free: 4 routines, 7 custom exercises, ~3-month history, ads.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78728" y="1371600"/>
            <a:ext cx="5364328" cy="2084832"/>
          </a:xfrm>
          <a:prstGeom prst="roundRect">
            <a:avLst>
              <a:gd name="adj" fmla="val 4386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07328" y="16002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865" y="1692737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55968" y="1572768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"AI" coaches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055968" y="1874520"/>
            <a:ext cx="440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Fitbod · Juggernaut · RP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507328" y="2240280"/>
            <a:ext cx="490712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Fitbod at $15.99/mo called "generic and repetitive." Juggernaut’s AI "is an expert system." RP sits at 2.8/5 on Trustpilot; price is the #1 complaint.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776472"/>
            <a:ext cx="5364328" cy="2084832"/>
          </a:xfrm>
          <a:prstGeom prst="roundRect">
            <a:avLst>
              <a:gd name="adj" fmla="val 4386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400507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77" y="4097609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977640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libraries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325880" y="4279392"/>
            <a:ext cx="440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Boostcamp · JEFIT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77240" y="4645152"/>
            <a:ext cx="490712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Boostcamp: "crashes, slow loading, issues with workout history" + paywall creep. JEFIT: 9M-account breach; 2026 redesign made navigation "drawn out and clunky."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78728" y="3776472"/>
            <a:ext cx="5364328" cy="2084832"/>
          </a:xfrm>
          <a:prstGeom prst="roundRect">
            <a:avLst>
              <a:gd name="adj" fmla="val 4386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07328" y="400507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865" y="4097609"/>
            <a:ext cx="235549" cy="23554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55968" y="3977640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Screen-time gates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055968" y="4279392"/>
            <a:ext cx="440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ClearSpace · Steppin · Lock In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507328" y="4645152"/>
            <a:ext cx="490712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top out at steps and camera-counted push-ups. The one tracker+gate combo attempt ("Lock In") is shallow on the training side. No incumbent owns both halves.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review themes: subscription fatigue, privacy distrust after breaches, crippled free tiers, and "AI" claims that collapse under scrutiny.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DEEP-DIVE · 1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logging core: deeper than Strong, faster than JEFIT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54298" cy="2212848"/>
          </a:xfrm>
          <a:prstGeom prst="roundRect">
            <a:avLst>
              <a:gd name="adj" fmla="val 4132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910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345" y="1683593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157984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Stepper logger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305196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 exact kg under the hood; lb/kg display via one conversion layer. Per-set notes and flags, RIR ⇄ RPE display toggle.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8698" y="1371600"/>
            <a:ext cx="3454298" cy="2212848"/>
          </a:xfrm>
          <a:prstGeom prst="roundRect">
            <a:avLst>
              <a:gd name="adj" fmla="val 4132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69866" y="15910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04" y="1683593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9866" y="2157984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Structures, all free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69866" y="2468880"/>
            <a:ext cx="305196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Supersets, dropsets, circuits of 3–5 exercises with rotation editor, EMOM / AMRAP / interval timers, group rest modes.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88757" y="1371600"/>
            <a:ext cx="3454298" cy="2212848"/>
          </a:xfrm>
          <a:prstGeom prst="roundRect">
            <a:avLst>
              <a:gd name="adj" fmla="val 4132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89925" y="15910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462" y="1683593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89925" y="2157984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Substitutes &amp; alternatives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89925" y="2468880"/>
            <a:ext cx="305196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Preload an alternative per exercise ("machine is busy") — one-tap swap mid-session, per-routine or global scope. No rival has this.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04488"/>
            <a:ext cx="3454298" cy="2212848"/>
          </a:xfrm>
          <a:prstGeom prst="roundRect">
            <a:avLst>
              <a:gd name="adj" fmla="val 4132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412394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45" y="4216481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690872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Calculators that respect machines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9808" y="5001768"/>
            <a:ext cx="305196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math including 2:1 / 1:2 pulley-ratio effective load, warm-up ramps, 1RM. Strong paywalls a barbell-only version.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68698" y="3904488"/>
            <a:ext cx="3454298" cy="2212848"/>
          </a:xfrm>
          <a:prstGeom prst="roundRect">
            <a:avLst>
              <a:gd name="adj" fmla="val 4132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69866" y="412394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404" y="4216481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69866" y="4690872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timer, everywhere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69866" y="5001768"/>
            <a:ext cx="305196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Activity + Dynamic Island countdown, lock-screen visible. Backdate past workouts; edit any historical set.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88757" y="3904488"/>
            <a:ext cx="3454298" cy="2212848"/>
          </a:xfrm>
          <a:prstGeom prst="roundRect">
            <a:avLst>
              <a:gd name="adj" fmla="val 4132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89925" y="412394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2462" y="4216481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89925" y="4690872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220-exercise catalog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89925" y="5001768"/>
            <a:ext cx="305196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exercise ships muscle diagrams + form cues (100% media coverage), searchable library, custom exercises unlimited.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documented speed-vs-depth trade-off: Strong is fast but shallow, JEFIT is deep but "clunky" — Peak Fettle is both.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DEEP-DIVE · 2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"AI" theater: rules you can read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365760" cy="365760"/>
          </a:xfrm>
          <a:prstGeom prst="ellipse">
            <a:avLst/>
          </a:prstGeom>
          <a:solidFill>
            <a:srgbClr val="17E5D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792224"/>
            <a:ext cx="0" cy="786384"/>
          </a:xfrm>
          <a:prstGeom prst="line">
            <a:avLst/>
          </a:prstGeom>
          <a:noFill/>
          <a:ln w="19050">
            <a:solidFill>
              <a:srgbClr val="243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32588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3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→ plan  </a:t>
            </a:r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Goals, schedule, equipment and constraints generate a periodized plan — deterministic and reproducible (seeded PRNG). Free tier included.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96896"/>
            <a:ext cx="365760" cy="365760"/>
          </a:xfrm>
          <a:prstGeom prst="ellipse">
            <a:avLst/>
          </a:prstGeom>
          <a:solidFill>
            <a:srgbClr val="17E5D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999232"/>
            <a:ext cx="0" cy="786384"/>
          </a:xfrm>
          <a:prstGeom prst="line">
            <a:avLst/>
          </a:prstGeom>
          <a:noFill/>
          <a:ln w="19050">
            <a:solidFill>
              <a:srgbClr val="2430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532888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3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this plan"  </a:t>
            </a:r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prescription carries a rule trace — the evidence-based reason, in plain language, for each set, rep range and progression call.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03904"/>
            <a:ext cx="365760" cy="365760"/>
          </a:xfrm>
          <a:prstGeom prst="ellipse">
            <a:avLst/>
          </a:prstGeom>
          <a:solidFill>
            <a:srgbClr val="17E5D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0" cy="786384"/>
          </a:xfrm>
          <a:prstGeom prst="line">
            <a:avLst/>
          </a:prstGeom>
          <a:noFill/>
          <a:ln w="19050">
            <a:solidFill>
              <a:srgbClr val="2430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739896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3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In-session autoregulation  </a:t>
            </a:r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Deterministic load/effort suggestions react to your logged performance as you train — no black box, thresholds documented.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10912"/>
            <a:ext cx="365760" cy="365760"/>
          </a:xfrm>
          <a:prstGeom prst="ellipse">
            <a:avLst/>
          </a:prstGeom>
          <a:solidFill>
            <a:srgbClr val="17E5D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10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946904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3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Fatigue-aware adjustment  </a:t>
            </a:r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Readiness + volume signals trigger deload-forward or accessory-trim advice, with 3→28-day dismissal backoff. One tap applies it.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635240" y="1371600"/>
            <a:ext cx="4007815" cy="4572000"/>
          </a:xfrm>
          <a:prstGeom prst="roundRect">
            <a:avLst>
              <a:gd name="adj" fmla="val 2282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627632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412480" y="1627632"/>
            <a:ext cx="3001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reviewers say about the "AI" rivals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909560" y="2286000"/>
            <a:ext cx="34591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Juggernaut AI ($349.99/yr)
</a:t>
            </a:r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AI… is an expert system" — a decision tree. Volume "from too little to way too much."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909560" y="3364992"/>
            <a:ext cx="34591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Fitbod ($95.99/yr)
</a:t>
            </a:r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"Generic and repetitive workouts that fail to meet user expectations."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909560" y="4443984"/>
            <a:ext cx="34591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Hypertrophy (to $299.99/yr)
</a:t>
            </a:r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Trustpilot 2.8/5. "Price is the big one," steep setup, no offline use.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62636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Fettle inverts the pitch: "No AI. Evidence-based rules you can read." It is also the only engine that works with zero connectivity.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DEEP-DIVE · 3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without a feed: rankings, streaks, groups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49040" cy="4663440"/>
          </a:xfrm>
          <a:prstGeom prst="roundRect">
            <a:avLst>
              <a:gd name="adj" fmla="val 2439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"Am I strong?"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on-device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per lift — lognormal-fit, DOTS-calibrated, adjusted for age and training age. Computed entirely offline, free for everyone, feeding a visible tier ladder.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Rivals: zero in-app percentiles. Web calculators (Strength Level, Gravitus standards) require manual entry or cloud logging.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40817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1697" y="1500713"/>
            <a:ext cx="235549" cy="23554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49240" y="1371600"/>
            <a:ext cx="62938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that forgive  —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engine with encouraging reset copy — "every workout is day one of something" — not guilt mechanics.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09160" y="259689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697" y="2689433"/>
            <a:ext cx="235549" cy="2355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2560320"/>
            <a:ext cx="62938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badges → cosmetics  —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unlock themes and cosmetics instead of clutter. Earned identity, not notification spam.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709160" y="378561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697" y="3878153"/>
            <a:ext cx="235549" cy="23554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3749040"/>
            <a:ext cx="62938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2–12  —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circles with weekly signals and opt-in, group-scoped leaderboards — the only network call allowed on the free tier, and it’s one boolean-grade signal.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709160" y="49743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697" y="5066873"/>
            <a:ext cx="235549" cy="23554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9240" y="4937760"/>
            <a:ext cx="62938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cards + routine links  —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On-device-rendered PR, tier and weekly-summary cards; routine share links with previews and deep-link import. Virality with zero server dependency.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48640" y="62636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anti-feature: no public social feed. r/weightroom-style lifters document feeds as unwanted bloat — Hevy’s "busy" UI is the cautionary tale.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DEEP-DIVE · 4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is the architecture, not a policy paragraph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55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= the phone, period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SQLite; the free path makes zero personal REST calls (enforced as a code-review invariant).</a:t>
            </a:r>
            <a:endParaRPr lang="en-US" sz="1150" dirty="0"/>
          </a:p>
          <a:p>
            <a:pPr marL="127000" indent="-1270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E2E-encrypted backup: AES-256-GCM blob, human-readable recovery code. We cannot read it.</a:t>
            </a:r>
            <a:endParaRPr lang="en-US" sz="1150" dirty="0"/>
          </a:p>
          <a:p>
            <a:pPr marL="127000" indent="-1270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CSV export free forever. Progress photos never leave the device.</a:t>
            </a:r>
            <a:endParaRPr lang="en-US" sz="1150" dirty="0"/>
          </a:p>
          <a:p>
            <a:pPr marL="127000" indent="-1270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 SDKs. No analytics resale. No account required to train.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47091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point: the July 14, 2026 API outage. Free users never noticed — the app has no server to lose.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0" y="141732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category’s privacy rap sheet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0" y="1874520"/>
            <a:ext cx="5242255" cy="749808"/>
          </a:xfrm>
          <a:prstGeom prst="roundRect">
            <a:avLst>
              <a:gd name="adj" fmla="val 12195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756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22592" y="1947672"/>
            <a:ext cx="4419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JEFIT  —  </a:t>
            </a:r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2020 breach: 9M+ emails, IPs, usernames, passwords (HaveIBeenPwned).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6400800" y="2734056"/>
            <a:ext cx="5242255" cy="749808"/>
          </a:xfrm>
          <a:prstGeom prst="roundRect">
            <a:avLst>
              <a:gd name="adj" fmla="val 12195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93522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22592" y="2807208"/>
            <a:ext cx="4419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Gymverse  —  </a:t>
            </a:r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label discloses Health &amp; Fitness data used for cross-app tracking; Mixpanel / AdMob / Facebook Ads SDKs.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6400800" y="3593592"/>
            <a:ext cx="5242255" cy="749808"/>
          </a:xfrm>
          <a:prstGeom prst="roundRect">
            <a:avLst>
              <a:gd name="adj" fmla="val 12195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794760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22592" y="3666744"/>
            <a:ext cx="4419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Hevy  —  </a:t>
            </a:r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third-party SDKs, 4 of them advertising; ad-supported free tier.</a:t>
            </a:r>
            <a:endParaRPr lang="en-US" sz="1080" dirty="0"/>
          </a:p>
        </p:txBody>
      </p:sp>
      <p:sp>
        <p:nvSpPr>
          <p:cNvPr id="19" name="Shape 13"/>
          <p:cNvSpPr/>
          <p:nvPr/>
        </p:nvSpPr>
        <p:spPr>
          <a:xfrm>
            <a:off x="6400800" y="4453128"/>
            <a:ext cx="5242255" cy="749808"/>
          </a:xfrm>
          <a:prstGeom prst="roundRect">
            <a:avLst>
              <a:gd name="adj" fmla="val 12195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654296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22592" y="4526280"/>
            <a:ext cx="4419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Fitbod  —  </a:t>
            </a:r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data shared with "Advertising Partners" per its own disclosure.</a:t>
            </a:r>
            <a:endParaRPr lang="en-US" sz="1080" dirty="0"/>
          </a:p>
        </p:txBody>
      </p:sp>
      <p:sp>
        <p:nvSpPr>
          <p:cNvPr id="22" name="Shape 15"/>
          <p:cNvSpPr/>
          <p:nvPr/>
        </p:nvSpPr>
        <p:spPr>
          <a:xfrm>
            <a:off x="6400800" y="5312664"/>
            <a:ext cx="5242255" cy="749808"/>
          </a:xfrm>
          <a:prstGeom prst="roundRect">
            <a:avLst>
              <a:gd name="adj" fmla="val 12195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513832"/>
            <a:ext cx="310896" cy="31089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22592" y="5385816"/>
            <a:ext cx="4419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MyFitnessPal  —  </a:t>
            </a:r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breach (150M) still cited in every Reddit thread — the category’s lasting scar.</a:t>
            </a:r>
            <a:endParaRPr lang="en-US" sz="1080" dirty="0"/>
          </a:p>
        </p:txBody>
      </p:sp>
      <p:sp>
        <p:nvSpPr>
          <p:cNvPr id="25" name="Text 17"/>
          <p:cNvSpPr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training history is yours. We can’t read it, sell it, or lose it" — a claim only an architecture can make.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DEEP-DIVE · 5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in Apple’s ecosystem, open both 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131" y="1776131"/>
            <a:ext cx="215067" cy="215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673352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 companion  —  </a:t>
            </a:r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watch app (live workout mirror shipping; wrist set-logging and HR stages next).</a:t>
            </a:r>
            <a:endParaRPr lang="en-US" sz="1180" dirty="0"/>
          </a:p>
        </p:txBody>
      </p:sp>
      <p:sp>
        <p:nvSpPr>
          <p:cNvPr id="8" name="Shape 5"/>
          <p:cNvSpPr/>
          <p:nvPr/>
        </p:nvSpPr>
        <p:spPr>
          <a:xfrm>
            <a:off x="548640" y="257860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31" y="2663099"/>
            <a:ext cx="215067" cy="2150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56032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Activities  —  </a:t>
            </a:r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timer on the Dynamic Island and lock screen.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548640" y="346557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31" y="3550067"/>
            <a:ext cx="215067" cy="2150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447288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+ Siri  —  </a:t>
            </a:r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Home-screen widgets and App Intents voice logging.</a:t>
            </a:r>
            <a:endParaRPr lang="en-US" sz="1180" dirty="0"/>
          </a:p>
        </p:txBody>
      </p:sp>
      <p:sp>
        <p:nvSpPr>
          <p:cNvPr id="14" name="Shape 9"/>
          <p:cNvSpPr/>
          <p:nvPr/>
        </p:nvSpPr>
        <p:spPr>
          <a:xfrm>
            <a:off x="548640" y="435254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31" y="4437035"/>
            <a:ext cx="215067" cy="21506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4334256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HealthKit  —  </a:t>
            </a:r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Workouts and bodyweight sync both ways.</a:t>
            </a:r>
            <a:endParaRPr lang="en-US" sz="1180" dirty="0"/>
          </a:p>
        </p:txBody>
      </p:sp>
      <p:sp>
        <p:nvSpPr>
          <p:cNvPr id="17" name="Shape 11"/>
          <p:cNvSpPr/>
          <p:nvPr/>
        </p:nvSpPr>
        <p:spPr>
          <a:xfrm>
            <a:off x="548640" y="52395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31" y="5324003"/>
            <a:ext cx="215067" cy="21506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5221224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rail  —  </a:t>
            </a:r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2,322 externalized strings across 9 namespaces — translation-ready.</a:t>
            </a:r>
            <a:endParaRPr lang="en-US" sz="1180" dirty="0"/>
          </a:p>
        </p:txBody>
      </p:sp>
      <p:sp>
        <p:nvSpPr>
          <p:cNvPr id="20" name="Text 13"/>
          <p:cNvSpPr/>
          <p:nvPr/>
        </p:nvSpPr>
        <p:spPr>
          <a:xfrm>
            <a:off x="6324448" y="1298448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freedom &amp; velocity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6324448" y="16916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938" y="1776131"/>
            <a:ext cx="215067" cy="21506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73088" y="1673352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Switcher importers  —  </a:t>
            </a:r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Strong and Hevy CSV import with exercise mapping, RPE→RIR conversion and dedupe. Their lock-in is our funnel.</a:t>
            </a:r>
            <a:endParaRPr lang="en-US" sz="1180" dirty="0"/>
          </a:p>
        </p:txBody>
      </p:sp>
      <p:sp>
        <p:nvSpPr>
          <p:cNvPr id="24" name="Shape 16"/>
          <p:cNvSpPr/>
          <p:nvPr/>
        </p:nvSpPr>
        <p:spPr>
          <a:xfrm>
            <a:off x="6324448" y="280720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938" y="2891699"/>
            <a:ext cx="215067" cy="21506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73088" y="278892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ramp included  —  </a:t>
            </a:r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JSON/CSV export, free, forever — the #1 Reddit demand ("your data outlives the app").</a:t>
            </a:r>
            <a:endParaRPr lang="en-US" sz="1180" dirty="0"/>
          </a:p>
        </p:txBody>
      </p:sp>
      <p:sp>
        <p:nvSpPr>
          <p:cNvPr id="27" name="Shape 18"/>
          <p:cNvSpPr/>
          <p:nvPr/>
        </p:nvSpPr>
        <p:spPr>
          <a:xfrm>
            <a:off x="6324448" y="392277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8938" y="4007267"/>
            <a:ext cx="215067" cy="215067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73088" y="3904488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ship cadence  —  </a:t>
            </a:r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JS-level fixes reach installed apps in hours via EAS Update — no store review wait.</a:t>
            </a:r>
            <a:endParaRPr lang="en-US" sz="1180" dirty="0"/>
          </a:p>
        </p:txBody>
      </p:sp>
      <p:sp>
        <p:nvSpPr>
          <p:cNvPr id="30" name="Shape 20"/>
          <p:cNvSpPr/>
          <p:nvPr/>
        </p:nvSpPr>
        <p:spPr>
          <a:xfrm>
            <a:off x="6324448" y="503834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938" y="5122835"/>
            <a:ext cx="215067" cy="215067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873088" y="5020056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adaptive programs  —  </a:t>
            </a:r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templates expressed as engine presets — they adapt and explain themselves; Boostcamp’s 11K programs are static PDFs-in-an-app.</a:t>
            </a:r>
            <a:endParaRPr lang="en-US" sz="1180" dirty="0"/>
          </a:p>
        </p:txBody>
      </p:sp>
      <p:sp>
        <p:nvSpPr>
          <p:cNvPr id="33" name="Text 22"/>
          <p:cNvSpPr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gap: iOS-first today. Android is roadmapped after the iOS wedge is proven — the one checkbox rivals still win.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CATEGORY-CREATING WEDGE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LifeOS: TikTok stays locked until you’ve trained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480560"/>
          </a:xfrm>
          <a:prstGeom prst="roundRect">
            <a:avLst>
              <a:gd name="adj" fmla="val 2041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gate works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FamilyControls-based app blocking with escalating unlock friction — not a bypassable reminder.</a:t>
            </a:r>
            <a:endParaRPr lang="en-US" sz="1250" dirty="0"/>
          </a:p>
          <a:p>
            <a:pPr marL="127000" indent="-1270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unlock condition is a real, loaded, progressing workout verified by the tracker — not steps, not camera push-ups.</a:t>
            </a:r>
            <a:endParaRPr lang="en-US" sz="1250" dirty="0"/>
          </a:p>
          <a:p>
            <a:pPr marL="127000" indent="-1270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streak where only a per-day boolean ever reaches a server: the gate inherits the privacy story.</a:t>
            </a:r>
            <a:endParaRPr lang="en-US" sz="1250" dirty="0"/>
          </a:p>
          <a:p>
            <a:pPr marL="127000" indent="-1270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Pro-gated: LifeOS anchors the subscription, so the tracker never needs per-feature paywalls (the Alpha Progression resentment trap).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earned-media hook in the roadmap — no tracker feature gets this headline.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0" y="1417320"/>
            <a:ext cx="4053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"competition"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874520"/>
            <a:ext cx="4053535" cy="896112"/>
          </a:xfrm>
          <a:prstGeom prst="roundRect">
            <a:avLst>
              <a:gd name="adj" fmla="val 10204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90688" y="1965960"/>
            <a:ext cx="3651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ClearSpace (YC)
</a:t>
            </a:r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Camera-ML push-ups / steps / breathing. ~850 ratings.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589520" y="2880360"/>
            <a:ext cx="4053535" cy="896112"/>
          </a:xfrm>
          <a:prstGeom prst="roundRect">
            <a:avLst>
              <a:gd name="adj" fmla="val 10204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0688" y="2971800"/>
            <a:ext cx="3651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Steppin
</a:t>
            </a:r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steps = 1 min of screen time. Reliability regressions reported.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89520" y="3886200"/>
            <a:ext cx="4053535" cy="896112"/>
          </a:xfrm>
          <a:prstGeom prst="roundRect">
            <a:avLst>
              <a:gd name="adj" fmla="val 10204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0688" y="3977640"/>
            <a:ext cx="3651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StepLock &amp; clones
</a:t>
            </a:r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or camera reps. Fragmented sub-genre.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589520" y="4892040"/>
            <a:ext cx="4053535" cy="896112"/>
          </a:xfrm>
          <a:prstGeom prst="roundRect">
            <a:avLst>
              <a:gd name="adj" fmla="val 10204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0688" y="4983480"/>
            <a:ext cx="3651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
</a:t>
            </a:r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tracker+gate attempt — training side has no periodization or progression depth.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categories, zero overlap today. Peak Fettle owns both halves.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 · LOGGERS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&amp; Hevy: beloved, and beatable on the record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64328" cy="4526280"/>
          </a:xfrm>
          <a:prstGeom prst="roundRect">
            <a:avLst>
              <a:gd name="adj" fmla="val 2020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3852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$4.99/mo · $29.99/yr · $99.99 lifetime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591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331720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Reviewers’ consensus: best-in-class logging UI, deep analytics, fair lifetime price.</a:t>
            </a:r>
            <a:endParaRPr lang="en-US" sz="113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1868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191256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"Feels stagnant… hasn’t evolved much in years" — v6.2 (Mar 2026) reads as maintenance mode.</a:t>
            </a:r>
            <a:endParaRPr lang="en-US" sz="113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7822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4050792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app "basically not functioning… crashes multiple times every workout, almost every set."</a:t>
            </a:r>
            <a:endParaRPr lang="en-US" sz="113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3776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4910328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3-routine cap, no charts, no plate calculator. No programming intelligence at any price.</a:t>
            </a:r>
            <a:endParaRPr lang="en-US" sz="1130" dirty="0"/>
          </a:p>
        </p:txBody>
      </p:sp>
      <p:sp>
        <p:nvSpPr>
          <p:cNvPr id="15" name="Shape 9"/>
          <p:cNvSpPr/>
          <p:nvPr/>
        </p:nvSpPr>
        <p:spPr>
          <a:xfrm>
            <a:off x="6278728" y="1371600"/>
            <a:ext cx="5364328" cy="4526280"/>
          </a:xfrm>
          <a:prstGeom prst="roundRect">
            <a:avLst>
              <a:gd name="adj" fmla="val 2020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6553048" y="157276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Hevy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6553048" y="193852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$2.99/mo · $23.99/yr · $74.99 lifetime · 10M+ users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8" y="235915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64528" y="2331720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4.7★ on Google Play; fast bug-fix cadence; the cheapest Pro in the category.</a:t>
            </a:r>
            <a:endParaRPr lang="en-US" sz="113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048" y="3218688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64528" y="3191256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is a demo: 4 routines, 7 custom exercises, ~3-month history — with ads.</a:t>
            </a:r>
            <a:endParaRPr lang="en-US" sz="113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048" y="4078224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64528" y="4050792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third-party SDKs, 4 advertising — the growth engine is your data and a social feed.</a:t>
            </a:r>
            <a:endParaRPr lang="en-US" sz="113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048" y="4937760"/>
            <a:ext cx="274320" cy="27432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964528" y="4910328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programming: "if you want adaptive guidance and progress feedback, you’ll need another app."</a:t>
            </a:r>
            <a:endParaRPr lang="en-US" sz="1130" dirty="0"/>
          </a:p>
        </p:txBody>
      </p:sp>
      <p:sp>
        <p:nvSpPr>
          <p:cNvPr id="26" name="Text 16"/>
          <p:cNvSpPr/>
          <p:nvPr/>
        </p:nvSpPr>
        <p:spPr>
          <a:xfrm>
            <a:off x="548640" y="61722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have a decade of user data locked in — which is exactly what the one-tap importers convert into Peak Fettle’s acquisition channel.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 · COACHES &amp; LIBRARIES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premium tier charges coach prices for rules engines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896112"/>
          </a:xfrm>
          <a:prstGeom prst="roundRect">
            <a:avLst>
              <a:gd name="adj" fmla="val 10204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447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Fitbod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04672" y="18105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$15.99/mo · $95.99/yr (hiked Jun 2026)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08960" y="1426464"/>
            <a:ext cx="82597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tier — a 3-workout trial that expires before the personalization matures. Long-termers love it; the record says "generic and repetitive" early, subscription-management complaints on Trustpilot.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2340864"/>
            <a:ext cx="11094415" cy="896112"/>
          </a:xfrm>
          <a:prstGeom prst="roundRect">
            <a:avLst>
              <a:gd name="adj" fmla="val 10204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4323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Juggernaut AI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279806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$34.99/mo · $349.99/yr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2414016"/>
            <a:ext cx="82597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Openly described as an expert system, not ML. Powerlifting-only; volume "from too little to way too much"; 1.5–2.5-hour sessions; no rest timer or plate calculator.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11094415" cy="896112"/>
          </a:xfrm>
          <a:prstGeom prst="roundRect">
            <a:avLst>
              <a:gd name="adj" fmla="val 10204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4198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Hypertrophy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4672" y="37856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$34.99/mo · up to $299.99/yr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3401568"/>
            <a:ext cx="82597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Trustpilot 2.8/5; price is the #1 complaint, steep learning curve, effectively a web wrapper — no offline use at all.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315968"/>
            <a:ext cx="11094415" cy="896112"/>
          </a:xfrm>
          <a:prstGeom prst="roundRect">
            <a:avLst>
              <a:gd name="adj" fmla="val 10204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4074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4672" y="47731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$12.99/mo · $69.99/yr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0" y="4389120"/>
            <a:ext cx="82597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1,400+ exercise DB and a real free tier — but the 2026 redesign made navigation "drawn out and clunky," and the 2020 breach (9M accounts) never left its reputation.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11094415" cy="896112"/>
          </a:xfrm>
          <a:prstGeom prst="roundRect">
            <a:avLst>
              <a:gd name="adj" fmla="val 10204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5394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Boostcamp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04672" y="5760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$14.99/mo · $59.99/yr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5376672"/>
            <a:ext cx="82597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~11K curated programs, none adaptive. Recent updates: "app crashes, slow loading times, issues with workout history" + paywall creep complaints.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Fettle ships adaptive, explained programming in the free tier — the entire premium category’s core product, at $0, offline.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SCORECARD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Feature-by-feature: nobody else covers the board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4415" cy="914400"/>
        </p:xfrm>
        <a:graphic>
          <a:graphicData uri="http://schemas.openxmlformats.org/drawingml/2006/table">
            <a:tbl>
              <a:tblPr/>
              <a:tblGrid>
                <a:gridCol w="3593592"/>
                <a:gridCol w="1280160"/>
                <a:gridCol w="1243584"/>
                <a:gridCol w="1243584"/>
                <a:gridCol w="1243584"/>
                <a:gridCol w="1243584"/>
                <a:gridCol w="1243584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1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Fettle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E5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2F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2F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2F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Fitbod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2F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JEFIT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2F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 Prog.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account required to train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data can stay 100% on-device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E2E-encrypted backup w/ recovery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 routines &amp; history, free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Ad-free free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plan generation, free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every prescription (rule trace)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percentiles built into logging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Circuits + EMOM/AMRAP timers, free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Machine/pulley-ratio plate math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Imports rivals’ CSV, free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Workout-gated screen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app 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E5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1908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 = partial or paywalled.  Android: honest gap — roadmapped after the iOS wedge; every other differentiator above is shipping today.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rivals charge for less than our free tier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2237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371600"/>
            <a:ext cx="3413455" cy="3017520"/>
          </a:xfrm>
          <a:prstGeom prst="roundRect">
            <a:avLst>
              <a:gd name="adj" fmla="val 3030"/>
            </a:avLst>
          </a:prstGeom>
          <a:solidFill>
            <a:srgbClr val="1A2745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1600200"/>
            <a:ext cx="2864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503920" y="2606040"/>
            <a:ext cx="28648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Fettle free tier: unlimited logging, adaptive programming, rankings, circuits, calculators, importers, export, E2E backup — no ads, ever.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4709160"/>
            <a:ext cx="3413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adds LifeOS gating + cross-device sync — one anchor value, not a nickel-and-dime paywall.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verified July 2026 (Fitbod hiked from $79.99 in June; RP full price; Juggernaut has no free tier).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RECORD, ANSWERED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recurring complaint, answered by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fatigue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651760" y="1335024"/>
            <a:ext cx="4297680" cy="896112"/>
          </a:xfrm>
          <a:prstGeom prst="roundRect">
            <a:avLst>
              <a:gd name="adj" fmla="val 10204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52928" y="1399032"/>
            <a:ext cx="3895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"Features that were free keep moving behind subscriptions" — the most consistent Reddit complaint.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7132320" y="1335024"/>
            <a:ext cx="4510735" cy="896112"/>
          </a:xfrm>
          <a:prstGeom prst="roundRect">
            <a:avLst>
              <a:gd name="adj" fmla="val 10204"/>
            </a:avLst>
          </a:prstGeom>
          <a:solidFill>
            <a:srgbClr val="10312E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33488" y="1399032"/>
            <a:ext cx="410839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is contractual by architecture: logging depth, programming and rankings can’t be clawed back behind a server they never touch.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548640" y="239572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distrust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51760" y="2340864"/>
            <a:ext cx="4297680" cy="896112"/>
          </a:xfrm>
          <a:prstGeom prst="roundRect">
            <a:avLst>
              <a:gd name="adj" fmla="val 10204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2404872"/>
            <a:ext cx="3895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JEFIT 9M breach, MFP 150M breach, Gymverse tracking labels — breaches earn "lasting negative sentiment."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7132320" y="2340864"/>
            <a:ext cx="4510735" cy="896112"/>
          </a:xfrm>
          <a:prstGeom prst="roundRect">
            <a:avLst>
              <a:gd name="adj" fmla="val 10204"/>
            </a:avLst>
          </a:prstGeom>
          <a:solidFill>
            <a:srgbClr val="10312E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33488" y="2404872"/>
            <a:ext cx="410839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breach: free-tier data never reaches a server; backups are E2E-encrypted with a user-held recovery code.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548640" y="340156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lock-in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651760" y="3346704"/>
            <a:ext cx="4297680" cy="896112"/>
          </a:xfrm>
          <a:prstGeom prst="roundRect">
            <a:avLst>
              <a:gd name="adj" fmla="val 10204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2928" y="3410712"/>
            <a:ext cx="3895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"CSV export so you can keep your data long-term" is consistently demanded by lifters.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7132320" y="3346704"/>
            <a:ext cx="4510735" cy="896112"/>
          </a:xfrm>
          <a:prstGeom prst="roundRect">
            <a:avLst>
              <a:gd name="adj" fmla="val 10204"/>
            </a:avLst>
          </a:prstGeom>
          <a:solidFill>
            <a:srgbClr val="10312E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33488" y="3410712"/>
            <a:ext cx="410839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JSON/CSV export — and free importers from Strong &amp; Hevy, so switching in is one tap too.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548640" y="440740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AI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651760" y="4352544"/>
            <a:ext cx="4297680" cy="896112"/>
          </a:xfrm>
          <a:prstGeom prst="roundRect">
            <a:avLst>
              <a:gd name="adj" fmla="val 10204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52928" y="4416552"/>
            <a:ext cx="3895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now call out Juggernaut, RP and JEFIT for "AI" that is a decision tree.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7132320" y="4352544"/>
            <a:ext cx="4510735" cy="896112"/>
          </a:xfrm>
          <a:prstGeom prst="roundRect">
            <a:avLst>
              <a:gd name="adj" fmla="val 10204"/>
            </a:avLst>
          </a:prstGeom>
          <a:solidFill>
            <a:srgbClr val="10312E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3488" y="4416552"/>
            <a:ext cx="410839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claimed. A deterministic engine that prints its reasoning beats a black box that gets caught.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548640" y="541324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Crippled free tiers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651760" y="5358384"/>
            <a:ext cx="4297680" cy="896112"/>
          </a:xfrm>
          <a:prstGeom prst="roundRect">
            <a:avLst>
              <a:gd name="adj" fmla="val 10204"/>
            </a:avLst>
          </a:prstGeom>
          <a:solidFill>
            <a:srgbClr val="141E36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52928" y="5422392"/>
            <a:ext cx="3895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3 routines. Hevy: 4 + ads + 3-month history. Fitbod: none.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7132320" y="5358384"/>
            <a:ext cx="4510735" cy="896112"/>
          </a:xfrm>
          <a:prstGeom prst="roundRect">
            <a:avLst>
              <a:gd name="adj" fmla="val 10204"/>
            </a:avLst>
          </a:prstGeom>
          <a:solidFill>
            <a:srgbClr val="10312E"/>
          </a:solidFill>
          <a:ln w="9525">
            <a:solidFill>
              <a:srgbClr val="2430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33488" y="5422392"/>
            <a:ext cx="410839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everything that matters, ad-free — the free tier IS the product; Pro sells LifeOS, not ransom.</a:t>
            </a:r>
            <a:endParaRPr lang="en-US" sz="10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749040"/>
            <a:ext cx="4572000" cy="3108960"/>
          </a:xfrm>
          <a:prstGeom prst="triangle">
            <a:avLst/>
          </a:prstGeom>
          <a:solidFill>
            <a:srgbClr val="141E36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663440"/>
            <a:ext cx="2743200" cy="2194560"/>
          </a:xfrm>
          <a:prstGeom prst="triangle">
            <a:avLst/>
          </a:prstGeom>
          <a:solidFill>
            <a:srgbClr val="1A274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in the industry — not by taste, by structure.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2140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21031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 where private-by-architecture is true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asks for trust; Peak Fettle removes the need for it.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986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28803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 with free adaptive programming that explains itself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$96–$350/yr tier’s product, at $0, with receipts.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75888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8992" y="36576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 answering "am I strong?" inside the logging loop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percentiles + tier ladder — shareable, portable, free.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53128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992" y="44348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 that will gate your phone on a real workout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LifeOS creates the category the gating apps can’t reach.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230368"/>
            <a:ext cx="347472" cy="34747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78992" y="52120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path off every rival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exports are our importers; their paywalls are our landing page.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548640" y="6126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7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 is a decade of good loggers, expensive rules engines, and static libraries. Peak Fettle is the first complete system — and the moats are structural.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evidence 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Fettle (verified in codebase, 2026-07-21)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1860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2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feature inventory: tierPolicy.ts (local-first invariant), blobCrypto.ts (AES-256-GCM backup), strengthModelV3.ts (percentiles), plateMath.ts, trainingEngine v2 (autoregulation.ts, fatigue.ts), substitutes.ts, targets/watch + widget + live-activity, i18n rail (2,322 keys), Strong/Hevy importers, 220-exercise media coverage.</a:t>
            </a:r>
            <a:endParaRPr lang="en-US" sz="980" dirty="0"/>
          </a:p>
          <a:p>
            <a:pPr marL="127000" indent="-127000">
              <a:lnSpc>
                <a:spcPts val="12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COMPETITIVE_ANALYSIS_2026-07-03.md (repo) — pricing/sentiment research with per-claim sources.</a:t>
            </a:r>
            <a:endParaRPr lang="en-US" sz="980" dirty="0"/>
          </a:p>
          <a:p>
            <a:pPr marL="127000" indent="-127000">
              <a:lnSpc>
                <a:spcPts val="12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postmortem 2026-07-14 (Railway edge outage; free tier unaffected).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6324448" y="128016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E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reviews &amp; pricing (July 2026 web research)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24448" y="1828800"/>
            <a:ext cx="531860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2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hotelgyms.com, prpath.app, setgraph.app, justuseapp.com reviews (stagnation; watch-app crash reports; free-tier caps).</a:t>
            </a:r>
            <a:endParaRPr lang="en-US" sz="980" dirty="0"/>
          </a:p>
          <a:p>
            <a:pPr marL="127000" indent="-127000">
              <a:lnSpc>
                <a:spcPts val="12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Hevy: hotelgyms.com, prpath.app, push-pull.app, trysoma.app (limits, ads, 4.7★ Play rating); blankspaces.app SDK audit.</a:t>
            </a:r>
            <a:endParaRPr lang="en-US" sz="980" dirty="0"/>
          </a:p>
          <a:p>
            <a:pPr marL="127000" indent="-127000">
              <a:lnSpc>
                <a:spcPts val="12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Fitbod: sensai.fit ($15.99 hike, 7.5/10), dr-muscle.com, fitnesstoolsreviewed.com, indiehackers.com ("generic/repetitive").</a:t>
            </a:r>
            <a:endParaRPr lang="en-US" sz="980" dirty="0"/>
          </a:p>
          <a:p>
            <a:pPr marL="127000" indent="-127000">
              <a:lnSpc>
                <a:spcPts val="12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JEFIT: haveibeenpwned.com (breach), etechshout.com, G2 reviews (2026 redesign complaints).</a:t>
            </a:r>
            <a:endParaRPr lang="en-US" sz="980" dirty="0"/>
          </a:p>
          <a:p>
            <a:pPr marL="127000" indent="-127000">
              <a:lnSpc>
                <a:spcPts val="12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Juggernaut: powerliftingtechnique.com, dr-muscle.com ("expert system", volume). RP: trustpilot.com (2.8/5), dr-muscle.com.</a:t>
            </a:r>
            <a:endParaRPr lang="en-US" sz="980" dirty="0"/>
          </a:p>
          <a:p>
            <a:pPr marL="127000" indent="-127000">
              <a:lnSpc>
                <a:spcPts val="12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Progression: fitnessdrum.com, justuseapp.com. Boostcamp: MWM/app-store review aggregation (crashes, history bugs).</a:t>
            </a:r>
            <a:endParaRPr lang="en-US" sz="980" dirty="0"/>
          </a:p>
          <a:p>
            <a:pPr marL="127000" indent="-127000">
              <a:lnSpc>
                <a:spcPts val="12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standards landscape: gravitus.com, strengthlevel via arvo.guru, liftvault.com (percentiles exist only as web calculators / separate apps).</a:t>
            </a:r>
            <a:endParaRPr lang="en-US" sz="980" dirty="0"/>
          </a:p>
          <a:p>
            <a:pPr marL="127000" indent="-127000">
              <a:lnSpc>
                <a:spcPts val="12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8FA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sentiment: setgraph.app + corahealth.app 2026 thread roundups (subscription fatigue, privacy, export demands).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competitor pricing re-verified before external use; Reddit sentiment partly via secondary aggregators; deck is internal positioning, not published copy.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2026-07-21T22:18:05Z</dcterms:created>
  <dcterms:modified xsi:type="dcterms:W3CDTF">2026-07-21T22:18:05Z</dcterms:modified>
</cp:coreProperties>
</file>